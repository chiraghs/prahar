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31920" y="1097280"/>
            <a:ext cx="4297680" cy="411480"/>
          </a:xfrm>
          <a:prstGeom prst="roundRect">
            <a:avLst/>
          </a:prstGeom>
          <a:solidFill>
            <a:srgbClr val="102A43"/>
          </a:solidFill>
          <a:ln>
            <a:solidFill>
              <a:srgbClr val="008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1B2"/>
                </a:solidFill>
              </a:defRPr>
            </a:pPr>
            <a:r>
              <a:t>⚡ AI-POWERED CYCLONE RESILIENCE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7373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PRAHAR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</a:defRPr>
            </a:pPr>
            <a:r>
              <a:t>Predictive Risk &amp; Anticipatory Hazard Action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Track-Based Cyclone Impact &amp; Infrastructure Vulnerability Forecaster for Bay of Bengal &amp; Coastal APAC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4114800"/>
            <a:ext cx="2103120" cy="4114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Google Earth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4114800"/>
            <a:ext cx="2103120" cy="411480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Gemini 1.5 Flash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114800"/>
            <a:ext cx="2103120" cy="411480"/>
          </a:xfrm>
          <a:prstGeom prst="roundRect">
            <a:avLst/>
          </a:prstGeom>
          <a:solidFill>
            <a:srgbClr val="0C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FastAPI &amp; React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4114800"/>
            <a:ext cx="2103120" cy="411480"/>
          </a:xfrm>
          <a:prstGeom prst="round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22 Indic Languages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30352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94A3B8"/>
                </a:solidFill>
              </a:defRPr>
            </a:pPr>
            <a:r>
              <a:t>Designed for District Magistrates, NDRF Commanders &amp; State Disaster Authorities (OSDMA, WBDMD, APSDMA, TNDMA) to trigger anticipatory evacuations &lt; T-12h before landfall.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411480"/>
          </a:xfrm>
          <a:prstGeom prst="rect">
            <a:avLst/>
          </a:prstGeom>
          <a:solidFill>
            <a:srgbClr val="008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Core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0116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365760" cy="54864"/>
          </a:xfrm>
          <a:prstGeom prst="rect">
            <a:avLst/>
          </a:prstGeom>
          <a:solidFill>
            <a:srgbClr val="008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645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</a:defRPr>
            </a:pPr>
            <a:r>
              <a:t>1. Track Telemetry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Ingest IMD, JTWC, Tide Gauges &amp; Copernicus 30m GEE DEM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188720"/>
            <a:ext cx="20116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90672" y="1417320"/>
            <a:ext cx="365760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600200"/>
            <a:ext cx="1645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</a:defRPr>
            </a:pPr>
            <a:r>
              <a:t>2. Surge Modeling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Hydrodynamic coastal inundation envelopes across 3 surge hazard tiers.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188720"/>
            <a:ext cx="20116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66944" y="1417320"/>
            <a:ext cx="365760" cy="54864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1600200"/>
            <a:ext cx="1645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</a:defRPr>
            </a:pPr>
            <a:r>
              <a:t>3. Infrastructure Graph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Pinpoint severed CHCs, tripped substations, and cutoff shelters.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1188720"/>
            <a:ext cx="20116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43216" y="1417320"/>
            <a:ext cx="365760" cy="54864"/>
          </a:xfrm>
          <a:prstGeom prst="rect">
            <a:avLst/>
          </a:prstGeom>
          <a:solidFill>
            <a:srgbClr val="008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43216" y="1600200"/>
            <a:ext cx="1645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</a:defRPr>
            </a:pPr>
            <a:r>
              <a:t>4. Multimodal SOPs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Gemini Flash auto-drafts tactical cadre directives in 22 Indic tongues.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1188720"/>
            <a:ext cx="20116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19488" y="1417320"/>
            <a:ext cx="365760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9488" y="1600200"/>
            <a:ext cx="1645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</a:defRPr>
            </a:pPr>
            <a:r>
              <a:t>5. Parametric Escrow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Automated smart escrow releases disaster liquidity at T-24h with 0 latency.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DCF5EE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836C"/>
                </a:solidFill>
              </a:defRPr>
            </a:pPr>
            <a:r>
              <a:t>Our Mission: Transform reactive cyclone disaster relief into predictive, automated anticipatory action — protecting 170M+ coastal citizens across the Bay of Bengal &amp; Coastal APAC.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411480"/>
          </a:xfrm>
          <a:prstGeom prst="rect">
            <a:avLst/>
          </a:prstGeom>
          <a:solidFill>
            <a:srgbClr val="008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Coastal Vulnerability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500" b="1">
                <a:solidFill>
                  <a:srgbClr val="D03B3B"/>
                </a:solidFill>
              </a:defRPr>
            </a:pPr>
            <a:r>
              <a:t>🔴 The Problem Today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t>▲ Fragmented Telemetry Silos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Cyclone tracks from IMD, bathymetry, power grids, and hospital directories exist in disconnected silos. No real-time spatial correlation.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t>▲ 12-24h Bureaucratic Response Lag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Current administrative dashboards operate post-landfall. Damage assessments occur 24-48 hours after coastal embankments are overtopped.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t>▲ Static Paper-Based Emergency SOPs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District Collectors rely on generic paper manuals unsuited for live dynamic water levels, leading to trapped civilians and submerged relief routes.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212080" cy="493776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457200" rIns="457200" bIns="457200"/>
          <a:lstStyle/>
          <a:p>
            <a:pPr algn="ctr">
              <a:spcAft>
                <a:spcPts val="1600"/>
              </a:spcAft>
              <a:defRPr sz="3600"/>
            </a:pPr>
            <a:r>
              <a:t>⚠️</a:t>
            </a:r>
          </a:p>
          <a:p>
            <a:pPr algn="ctr">
              <a:spcAft>
                <a:spcPts val="2000"/>
              </a:spcAft>
              <a:defRPr sz="1700" b="1">
                <a:solidFill>
                  <a:srgbClr val="D03B3B"/>
                </a:solidFill>
              </a:defRPr>
            </a:pPr>
            <a:r>
              <a:t>"The storm surge inundated the coastal arterial highway before the evacuation buses were dispatched."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Without predictive, track-based infrastructure vulnerability modeling, relief forces deploy blindly after lifelines sever. Coastal districts lose critical power and emergency medical access within hours.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411480"/>
          </a:xfrm>
          <a:prstGeom prst="rect">
            <a:avLst/>
          </a:prstGeom>
          <a:solidFill>
            <a:srgbClr val="008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PRAHAR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457200" cy="73152"/>
          </a:xfrm>
          <a:prstGeom prst="rect">
            <a:avLst/>
          </a:prstGeom>
          <a:solidFill>
            <a:srgbClr val="008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1. Unified Geoprobe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Direct ingestion of live IMD track coordinates, JTWC advisories, Copernicus 30m DEM elevation, and OSM critical lifelines into a unified spatial graph.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1554480"/>
            <a:ext cx="457200" cy="7315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2. Multimodal AI Triage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Gemini 1.5 Flash evaluates hydrological choke points, drafting role-directed SOPs and generating multi-lingual Web Speech broadcasts in 22 Indic languages.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8016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1554480"/>
            <a:ext cx="457200" cy="73152"/>
          </a:xfrm>
          <a:prstGeom prst="rect">
            <a:avLst/>
          </a:prstGeom>
          <a:solidFill>
            <a:srgbClr val="008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3. Parametric Liquidity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Automated pre-landfall escrow releases emergency cash reserves at T-24h directly to SDRF accounts without bureaucratic verification delays.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DCF5EE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836C"/>
                </a:solidFill>
              </a:defRPr>
            </a:pPr>
            <a:r>
              <a:t>💡 The 5-Minute District Collector Value: You don't have to decipher raw radar files. PRAHAR instantly highlights which bridge is severed, which hospital loses backup power, and where assault craft must be pre-staged.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411480"/>
          </a:xfrm>
          <a:prstGeom prst="rect">
            <a:avLst/>
          </a:prstGeom>
          <a:solidFill>
            <a:srgbClr val="008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Live Operations Cockpit</a:t>
            </a:r>
          </a:p>
        </p:txBody>
      </p:sp>
      <p:pic>
        <p:nvPicPr>
          <p:cNvPr id="4" name="Picture 3" descr="cockpit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498079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188720"/>
            <a:ext cx="2926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200"/>
              </a:spcAft>
              <a:defRPr sz="1400" b="1">
                <a:solidFill>
                  <a:srgbClr val="00836C"/>
                </a:solidFill>
              </a:defRPr>
            </a:pPr>
            <a:r>
              <a:t>Operational Capabilities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Real-time Track Ingestion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Tracks active storms (e.g. Cyclone DANA 125 km/h) with 6-stage temporal waypoints.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3-Tier Surge Inundation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High-resolution polygons for &gt;2.5m, 1.5-2.5m, and 0.5-1.5m forecast surge.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District Vulnerability Index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Automated ranking of districts (Bhadrak 94%, Kendrapara 89%).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Multimodal Directives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Gemini 1.5 Flash generates action orders for NDRF, DMs &amp; Panchayats.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411480"/>
          </a:xfrm>
          <a:prstGeom prst="rect">
            <a:avLst/>
          </a:prstGeom>
          <a:solidFill>
            <a:srgbClr val="008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State Operations &amp; 22 Official Indic Languages</a:t>
            </a:r>
          </a:p>
        </p:txBody>
      </p:sp>
      <p:pic>
        <p:nvPicPr>
          <p:cNvPr id="4" name="Picture 3" descr="odisha_land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212080" cy="3474720"/>
          </a:xfrm>
          <a:prstGeom prst="rect">
            <a:avLst/>
          </a:prstGeom>
        </p:spPr>
      </p:pic>
      <p:pic>
        <p:nvPicPr>
          <p:cNvPr id="5" name="Picture 4" descr="cockpit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21208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84632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836C"/>
                </a:solidFill>
              </a:defRPr>
            </a:pPr>
            <a:r>
              <a:t>🏛️ Multi-State Operational Jurisdictions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1-click filtering across National (NDMA), Odisha (OSDMA), West Bengal (WBDMD), Andhra Pradesh (APSDMA), and Tamil Nadu (TNDMA) automatically re-centers GIS and updates state-specific choke 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84632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8220"/>
                </a:solidFill>
              </a:defRPr>
            </a:pPr>
            <a:r>
              <a:t>🎙️ All 22 Eighth Schedule Indian Languages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Native translations and instant Web Speech audio broadcasts for Odia, Bengali, Telugu, Tamil, Hindi, Marathi, Gujarati, etc. Dark Mode supports 24/7 command center screening without visual fatigue.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411480"/>
          </a:xfrm>
          <a:prstGeom prst="rect">
            <a:avLst/>
          </a:prstGeom>
          <a:solidFill>
            <a:srgbClr val="008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Mobile Citizen Simulator (PWA)</a:t>
            </a:r>
          </a:p>
        </p:txBody>
      </p:sp>
      <p:pic>
        <p:nvPicPr>
          <p:cNvPr id="4" name="Picture 3" descr="mobile_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486400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188720"/>
            <a:ext cx="49377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00836C"/>
                </a:solidFill>
              </a:defRPr>
            </a:pPr>
            <a:r>
              <a:t>📱 Last-Mile Citizen Protection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✓ Offline-First Progressive Web App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Pre-caches elevation maps and shelter waypoints. Fully functional even when mobile towers lose power or backhaul connections.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✓ Safe Navigation to Multi-Purpose Shelters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Real-time routing diverts citizens away from flooded roads toward elevated shelters with verified remaining capacity.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✓ One-Tap SOS Distress Beacon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Broadcasts GPS coordinates, battery level, and family count to district emergency operations centers.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✓ Parametric Relief QR Pass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Digital QR credentials enable immediate ration and relief fund verification at local evacuation shelters.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411480"/>
          </a:xfrm>
          <a:prstGeom prst="rect">
            <a:avLst/>
          </a:prstGeom>
          <a:solidFill>
            <a:srgbClr val="008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Infrastructure Vulnerability Matrix</a:t>
            </a:r>
          </a:p>
        </p:txBody>
      </p:sp>
      <p:pic>
        <p:nvPicPr>
          <p:cNvPr id="4" name="Picture 3" descr="infrastructur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132320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188720"/>
            <a:ext cx="32918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D03B3B"/>
                </a:solidFill>
              </a:defRPr>
            </a:pPr>
            <a:r>
              <a:t>5 Critical Lifeline Sectors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🏥 Primary Health Centers (CHCs)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Elevation vs surge calculation flags oxygen manifold flooding and power cutoffs before breach.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⚡ 33/11kV Substation Grids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Tripping predictions prevent equipment burnout and identify affected consumer counts.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🏕️ Multi-Purpose Cyclone Shelters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Live capacity tracking and road severance warnings dispatch amphibious assault craft.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🌉 Arterial Highways &amp; Bridges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Identifies specific road cuts (e.g. SH-9A) causing ambulance reroutes of 4.2+ hours.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411480"/>
          </a:xfrm>
          <a:prstGeom prst="rect">
            <a:avLst/>
          </a:prstGeom>
          <a:solidFill>
            <a:srgbClr val="008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Parametric Escrow &amp; Predictive Mathematical Model</a:t>
            </a:r>
          </a:p>
        </p:txBody>
      </p:sp>
      <p:pic>
        <p:nvPicPr>
          <p:cNvPr id="4" name="Picture 3" descr="parametric_esc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486400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188720"/>
            <a:ext cx="49377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0" rIns="274320" b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00836C"/>
                </a:solidFill>
              </a:defRPr>
            </a:pPr>
            <a:r>
              <a:t>Mathematical Vulnerability Formulation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Escrow Automation Protocol: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● Zero Claims Processing: Funds disburse automatically at T-24h once storm track &amp; surge thresholds are met.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● Pre-Landfall Disaster Liquidity: Allocates ₹21.00 Cr pool directly to impacted coastal state SDRF accounts (e.g. ₹10.5 Cr Odisha, ₹5.25 Cr WB).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● Cryptographic Auditability: Every payout is recorded with verifiable blockchain-inspired hashes preventing administrative diversion.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28800"/>
            <a:ext cx="457200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E293B"/>
                </a:solidFill>
              </a:defRPr>
            </a:pPr>
            <a:r>
              <a:t>V_dist = 0.45 * (S_peak / E_mean) + 0.35 * (C_sev / C_tot) + 0.20 * ρ_kutcha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411480"/>
          </a:xfrm>
          <a:prstGeom prst="rect">
            <a:avLst/>
          </a:prstGeom>
          <a:solidFill>
            <a:srgbClr val="008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4572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</a:defRPr>
            </a:pPr>
            <a:r>
              <a:t>1. External Feeds &amp; Telemetry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IMD / JTWC: Real-time cyclone tracks &amp; cones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Google Earth Engine: Copernicus DEM 30m, Sentinel-1 SAR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OSM Overpass: Hospitals, Sub-stations, Arterial Bridges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INCOIS / NOAA: Coastal Tide Gauges &amp; Bathymetry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18872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39312" y="1371600"/>
            <a:ext cx="457200" cy="73152"/>
          </a:xfrm>
          <a:prstGeom prst="rect">
            <a:avLst/>
          </a:prstGeom>
          <a:solidFill>
            <a:srgbClr val="008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55448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</a:defRPr>
            </a:pPr>
            <a:r>
              <a:t>2. Ingestion Microservice (:8001)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Async Ingestion Worker &amp; Poller Daemon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Track Normalizer &amp; Cone of Uncertainty Generator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GEE Elevation &amp; Bathymetric Sampler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OSM Infrastructure Feature Extractor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18872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64224" y="1371600"/>
            <a:ext cx="457200" cy="7315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55448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</a:defRPr>
            </a:pPr>
            <a:r>
              <a:t>3. Core Simulation Engine (:8010)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FastAPI 0.111 Application Core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SLOSH Storm Surge &amp; Inundation Model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Compound River-Surge Backwater Engine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NetworkX Infrastructure Severance Graph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Parametric Escrow Controller &amp; Gemini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18872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89136" y="1371600"/>
            <a:ext cx="457200" cy="73152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155448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</a:defRPr>
            </a:pPr>
            <a:r>
              <a:t>4. Storage &amp; Presentation Tier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PostgreSQL / PostGIS Spatial DB &amp; Redis Cache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React 18 + TS + Leaflet GIS 3D Cockpit (:5174)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T-72h to Landfall Temporal Playback Scrubber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Role-Differentiated SOPs &amp; 22 Indic Audio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836C"/>
                </a:solidFill>
              </a:defRPr>
            </a:pPr>
            <a:r>
              <a:t>⚡ Decoupled Pipeline: External Feeds ➔ Ingestion Worker (:8001) ➔ Spatial DB ➔ Core Engine (:8010) ➔ React GIS (:5174)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